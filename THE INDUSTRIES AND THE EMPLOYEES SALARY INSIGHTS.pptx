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26"/>
  </p:notesMasterIdLst>
  <p:handoutMasterIdLst>
    <p:handoutMasterId r:id="rId27"/>
  </p:handoutMasterIdLst>
  <p:sldIdLst>
    <p:sldId id="256" r:id="rId5"/>
    <p:sldId id="257" r:id="rId6"/>
    <p:sldId id="267"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6" r:id="rId21"/>
    <p:sldId id="283" r:id="rId22"/>
    <p:sldId id="285" r:id="rId23"/>
    <p:sldId id="269" r:id="rId24"/>
    <p:sldId id="28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328" autoAdjust="0"/>
  </p:normalViewPr>
  <p:slideViewPr>
    <p:cSldViewPr snapToGrid="0">
      <p:cViewPr varScale="1">
        <p:scale>
          <a:sx n="87" d="100"/>
          <a:sy n="87" d="100"/>
        </p:scale>
        <p:origin x="528" y="58"/>
      </p:cViewPr>
      <p:guideLst/>
    </p:cSldViewPr>
  </p:slideViewPr>
  <p:notesTextViewPr>
    <p:cViewPr>
      <p:scale>
        <a:sx n="1" d="1"/>
        <a:sy n="1" d="1"/>
      </p:scale>
      <p:origin x="0" y="0"/>
    </p:cViewPr>
  </p:notesTextViewPr>
  <p:notesViewPr>
    <p:cSldViewPr snapToGrid="0">
      <p:cViewPr varScale="1">
        <p:scale>
          <a:sx n="60" d="100"/>
          <a:sy n="60" d="100"/>
        </p:scale>
        <p:origin x="242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6/24/2025</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6/24/2025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ahoma" panose="020B0604030504040204" pitchFamily="34" charset="0"/>
                <a:ea typeface="Tahoma" panose="020B0604030504040204" pitchFamily="34" charset="0"/>
                <a:cs typeface="Tahoma" panose="020B0604030504040204" pitchFamily="34" charset="0"/>
              </a:rPr>
              <a:t>Be specific and direct in the title. Use the subtitle to give the specific context of the speech.</a:t>
            </a:r>
          </a:p>
          <a:p>
            <a:r>
              <a:rPr lang="en-US" sz="1200" dirty="0">
                <a:latin typeface="Tahoma" panose="020B0604030504040204" pitchFamily="34" charset="0"/>
                <a:ea typeface="Tahoma" panose="020B0604030504040204" pitchFamily="34" charset="0"/>
                <a:cs typeface="Tahoma" panose="020B0604030504040204" pitchFamily="34" charset="0"/>
              </a:rPr>
              <a:t>-The goal should be to capture the audience’s attention which can be done with a quote, a startling statistic, or fact.  It is not necessary to include this attention getter on the slide.</a:t>
            </a:r>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320545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ahoma" panose="020B0604030504040204" pitchFamily="34" charset="0"/>
                <a:ea typeface="Tahoma" panose="020B0604030504040204" pitchFamily="34" charset="0"/>
                <a:cs typeface="Tahoma" panose="020B0604030504040204" pitchFamily="34" charset="0"/>
              </a:rPr>
              <a:t>Use the background points to post details that are not common knowledge, or that the audience will need to understand the context of the speech.</a:t>
            </a:r>
          </a:p>
          <a:p>
            <a:r>
              <a:rPr lang="en-US" dirty="0"/>
              <a:t>-Do not read these main points from the PowerPoint, instead elaborate on these points during the speech.</a:t>
            </a:r>
          </a:p>
        </p:txBody>
      </p:sp>
      <p:sp>
        <p:nvSpPr>
          <p:cNvPr id="4" name="Slide Number Placeholder 3"/>
          <p:cNvSpPr>
            <a:spLocks noGrp="1"/>
          </p:cNvSpPr>
          <p:nvPr>
            <p:ph type="sldNum" sz="quarter" idx="10"/>
          </p:nvPr>
        </p:nvSpPr>
        <p:spPr/>
        <p:txBody>
          <a:bodyPr/>
          <a:lstStyle/>
          <a:p>
            <a:fld id="{E6AEB063-7F11-4E3B-BA52-07405B1C2D95}" type="slidenum">
              <a:rPr lang="en-US" smtClean="0"/>
              <a:t>2</a:t>
            </a:fld>
            <a:endParaRPr lang="en-US" dirty="0"/>
          </a:p>
        </p:txBody>
      </p:sp>
    </p:spTree>
    <p:extLst>
      <p:ext uri="{BB962C8B-B14F-4D97-AF65-F5344CB8AC3E}">
        <p14:creationId xmlns:p14="http://schemas.microsoft.com/office/powerpoint/2010/main" val="2752401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counterargument should be the most common argument against the topic.  The goal for this slide is to address the counterargument in such a way as to actually strengthen the original topic.  Be sure to address each piece of evidence against the topic.  As you address each piece of evidence elaborate on the text found on the slide.  Remember to transition to the final slide, the action step.</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3</a:t>
            </a:fld>
            <a:endParaRPr lang="en-US" dirty="0"/>
          </a:p>
        </p:txBody>
      </p:sp>
    </p:spTree>
    <p:extLst>
      <p:ext uri="{BB962C8B-B14F-4D97-AF65-F5344CB8AC3E}">
        <p14:creationId xmlns:p14="http://schemas.microsoft.com/office/powerpoint/2010/main" val="3730541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counterargument should be the most common argument against the topic.  The goal for this slide is to address the counterargument in such a way as to actually strengthen the original topic.  Be sure to address each piece of evidence against the topic.  As you address each piece of evidence elaborate on the text found on the slide.  Remember to transition to the final slide, the action step.</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4</a:t>
            </a:fld>
            <a:endParaRPr lang="en-US" dirty="0"/>
          </a:p>
        </p:txBody>
      </p:sp>
    </p:spTree>
    <p:extLst>
      <p:ext uri="{BB962C8B-B14F-4D97-AF65-F5344CB8AC3E}">
        <p14:creationId xmlns:p14="http://schemas.microsoft.com/office/powerpoint/2010/main" val="3068377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noProof="0" smtClean="0"/>
              <a:t>Click to edit Master title style</a:t>
            </a:r>
            <a:endParaRPr lang="en-US" noProof="0"/>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smtClean="0"/>
              <a:t>Click to edit Master subtitle style</a:t>
            </a:r>
            <a:endParaRPr lang="en-US" noProof="0"/>
          </a:p>
        </p:txBody>
      </p:sp>
      <p:sp>
        <p:nvSpPr>
          <p:cNvPr id="4" name="Date Placeholder 3"/>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5" name="Footer Placeholder 4"/>
          <p:cNvSpPr>
            <a:spLocks noGrp="1"/>
          </p:cNvSpPr>
          <p:nvPr>
            <p:ph type="ftr" sz="quarter" idx="11"/>
          </p:nvPr>
        </p:nvSpPr>
        <p:spPr/>
        <p:txBody>
          <a:bodyPr/>
          <a:lstStyle/>
          <a:p>
            <a:r>
              <a:rPr lang="en-US" noProof="0" dirty="0"/>
              <a:t>Add a footer </a:t>
            </a:r>
          </a:p>
        </p:txBody>
      </p:sp>
      <p:sp>
        <p:nvSpPr>
          <p:cNvPr id="6" name="Slide Number Placeholder 5"/>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smtClean="0"/>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a:extLst>
              <a:ext uri="{FF2B5EF4-FFF2-40B4-BE49-F238E27FC236}">
                <a16:creationId xmlns:a16="http://schemas.microsoft.com/office/drawing/2014/main" id="{FC3AB4A3-AE75-4D00-9BE1-AF3996C6B77E}"/>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10" name="Footer Placeholder 9">
            <a:extLst>
              <a:ext uri="{FF2B5EF4-FFF2-40B4-BE49-F238E27FC236}">
                <a16:creationId xmlns:a16="http://schemas.microsoft.com/office/drawing/2014/main" id="{9471F3C4-BAAF-4391-B574-8E340EDA39E9}"/>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FB8DD71F-FEC6-4AB5-974A-FD2B82A7BEE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smtClean="0"/>
              <a:t>Click to edit Master title style</a:t>
            </a:r>
            <a:endParaRPr lang="en-US" dirty="0"/>
          </a:p>
        </p:txBody>
      </p:sp>
      <p:sp>
        <p:nvSpPr>
          <p:cNvPr id="3" name="Date Placeholder 2">
            <a:extLst>
              <a:ext uri="{FF2B5EF4-FFF2-40B4-BE49-F238E27FC236}">
                <a16:creationId xmlns:a16="http://schemas.microsoft.com/office/drawing/2014/main" id="{C740B6DF-7478-4740-A710-DA5E9EBA7CBF}"/>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7" name="Footer Placeholder 6">
            <a:extLst>
              <a:ext uri="{FF2B5EF4-FFF2-40B4-BE49-F238E27FC236}">
                <a16:creationId xmlns:a16="http://schemas.microsoft.com/office/drawing/2014/main" id="{42D89951-67E9-4086-AED0-C236A00A5330}"/>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38553809-8746-49E3-BCB5-0A9FF406C30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smtClean="0"/>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63F86C4-C3A0-4CA8-8809-1D90DE9E4D4F}"/>
              </a:ext>
            </a:extLst>
          </p:cNvPr>
          <p:cNvSpPr>
            <a:spLocks noGrp="1"/>
          </p:cNvSpPr>
          <p:nvPr>
            <p:ph type="dt" sz="half" idx="14"/>
          </p:nvPr>
        </p:nvSpPr>
        <p:spPr/>
        <p:txBody>
          <a:bodyPr/>
          <a:lstStyle/>
          <a:p>
            <a:fld id="{FB7F6C47-B260-4BB6-8230-7D14D5CDE026}" type="datetimeFigureOut">
              <a:rPr lang="en-US" noProof="0" smtClean="0"/>
              <a:t>6/24/2025</a:t>
            </a:fld>
            <a:endParaRPr lang="en-US" noProof="0" dirty="0"/>
          </a:p>
        </p:txBody>
      </p:sp>
      <p:sp>
        <p:nvSpPr>
          <p:cNvPr id="10" name="Footer Placeholder 9">
            <a:extLst>
              <a:ext uri="{FF2B5EF4-FFF2-40B4-BE49-F238E27FC236}">
                <a16:creationId xmlns:a16="http://schemas.microsoft.com/office/drawing/2014/main" id="{EDD26EA8-C9F2-49A7-8F7B-A782D30B827A}"/>
              </a:ext>
            </a:extLst>
          </p:cNvPr>
          <p:cNvSpPr>
            <a:spLocks noGrp="1"/>
          </p:cNvSpPr>
          <p:nvPr>
            <p:ph type="ftr" sz="quarter" idx="15"/>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241DD2E8-07A6-430F-A2FB-E2746C9352D4}"/>
              </a:ext>
            </a:extLst>
          </p:cNvPr>
          <p:cNvSpPr>
            <a:spLocks noGrp="1"/>
          </p:cNvSpPr>
          <p:nvPr>
            <p:ph type="sldNum" sz="quarter" idx="16"/>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smtClean="0"/>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a:extLst>
              <a:ext uri="{FF2B5EF4-FFF2-40B4-BE49-F238E27FC236}">
                <a16:creationId xmlns:a16="http://schemas.microsoft.com/office/drawing/2014/main" id="{82940641-87D1-48C5-879E-8A5FBA537AFD}"/>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10" name="Footer Placeholder 9">
            <a:extLst>
              <a:ext uri="{FF2B5EF4-FFF2-40B4-BE49-F238E27FC236}">
                <a16:creationId xmlns:a16="http://schemas.microsoft.com/office/drawing/2014/main" id="{DBFA68A8-3A7A-430B-9A66-482C28DC5A76}"/>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96C17F98-4E3F-4327-8CCF-D13C337121A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smtClean="0"/>
              <a:t>Click to edit Master title style</a:t>
            </a:r>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3" name="Date Placeholder 2">
            <a:extLst>
              <a:ext uri="{FF2B5EF4-FFF2-40B4-BE49-F238E27FC236}">
                <a16:creationId xmlns:a16="http://schemas.microsoft.com/office/drawing/2014/main" id="{5829ED24-3C5F-4326-A304-DBDBA6CE7E1A}"/>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4" name="Footer Placeholder 3">
            <a:extLst>
              <a:ext uri="{FF2B5EF4-FFF2-40B4-BE49-F238E27FC236}">
                <a16:creationId xmlns:a16="http://schemas.microsoft.com/office/drawing/2014/main" id="{BF532AEE-3AAE-4FBF-969F-8A364CE8AEB6}"/>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6717C1A8-7DBE-4E24-BCA1-D820D780B9C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smtClean="0"/>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0466CE2-DFEE-46B8-AFB2-817272E3B703}"/>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9" name="Footer Placeholder 8">
            <a:extLst>
              <a:ext uri="{FF2B5EF4-FFF2-40B4-BE49-F238E27FC236}">
                <a16:creationId xmlns:a16="http://schemas.microsoft.com/office/drawing/2014/main" id="{27E9A94A-136A-4208-8F98-012BDAC1A23C}"/>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81459C8B-DA0F-4808-A642-40471D1D2C96}"/>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smtClean="0"/>
              <a:t>Click to edit Master title style</a:t>
            </a:r>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a:extLst>
              <a:ext uri="{FF2B5EF4-FFF2-40B4-BE49-F238E27FC236}">
                <a16:creationId xmlns:a16="http://schemas.microsoft.com/office/drawing/2014/main" id="{F1FE71A4-2AD7-44A1-9075-3AB1A226C1C2}"/>
              </a:ext>
            </a:extLst>
          </p:cNvPr>
          <p:cNvSpPr>
            <a:spLocks noGrp="1"/>
          </p:cNvSpPr>
          <p:nvPr>
            <p:ph type="dt" sz="half" idx="15"/>
          </p:nvPr>
        </p:nvSpPr>
        <p:spPr/>
        <p:txBody>
          <a:bodyPr/>
          <a:lstStyle/>
          <a:p>
            <a:fld id="{FB7F6C47-B260-4BB6-8230-7D14D5CDE026}" type="datetimeFigureOut">
              <a:rPr lang="en-US" noProof="0" smtClean="0"/>
              <a:t>6/24/2025</a:t>
            </a:fld>
            <a:endParaRPr lang="en-US" noProof="0" dirty="0"/>
          </a:p>
        </p:txBody>
      </p:sp>
      <p:sp>
        <p:nvSpPr>
          <p:cNvPr id="4" name="Footer Placeholder 3">
            <a:extLst>
              <a:ext uri="{FF2B5EF4-FFF2-40B4-BE49-F238E27FC236}">
                <a16:creationId xmlns:a16="http://schemas.microsoft.com/office/drawing/2014/main" id="{0F5F74D3-28C0-4AA1-8508-75D32DA3C2A0}"/>
              </a:ext>
            </a:extLst>
          </p:cNvPr>
          <p:cNvSpPr>
            <a:spLocks noGrp="1"/>
          </p:cNvSpPr>
          <p:nvPr>
            <p:ph type="ftr" sz="quarter" idx="16"/>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77D83112-B341-46D2-8B30-46DBC3DAE35A}"/>
              </a:ext>
            </a:extLst>
          </p:cNvPr>
          <p:cNvSpPr>
            <a:spLocks noGrp="1"/>
          </p:cNvSpPr>
          <p:nvPr>
            <p:ph type="sldNum" sz="quarter" idx="17"/>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a:extLst>
              <a:ext uri="{FF2B5EF4-FFF2-40B4-BE49-F238E27FC236}">
                <a16:creationId xmlns:a16="http://schemas.microsoft.com/office/drawing/2014/main" id="{2913A633-0BBE-491F-94FD-A319FC7D2B1A}"/>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8" name="Footer Placeholder 7">
            <a:extLst>
              <a:ext uri="{FF2B5EF4-FFF2-40B4-BE49-F238E27FC236}">
                <a16:creationId xmlns:a16="http://schemas.microsoft.com/office/drawing/2014/main" id="{9916FEDE-3F7F-4F2C-A341-BDA56AA7C2AC}"/>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0C1EE25F-3E3B-45D3-B259-498E69BF2D67}"/>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7" name="Date Placeholder 6">
            <a:extLst>
              <a:ext uri="{FF2B5EF4-FFF2-40B4-BE49-F238E27FC236}">
                <a16:creationId xmlns:a16="http://schemas.microsoft.com/office/drawing/2014/main" id="{D4F5D18E-4241-429D-BEDB-6A7415C52F3D}"/>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8" name="Footer Placeholder 7">
            <a:extLst>
              <a:ext uri="{FF2B5EF4-FFF2-40B4-BE49-F238E27FC236}">
                <a16:creationId xmlns:a16="http://schemas.microsoft.com/office/drawing/2014/main" id="{7F5CFD55-6AD5-4B7E-AC33-483174EF1EBD}"/>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14D43F5-DCFF-4B29-AC19-0BF28605BA8B}"/>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Date Placeholder 10">
            <a:extLst>
              <a:ext uri="{FF2B5EF4-FFF2-40B4-BE49-F238E27FC236}">
                <a16:creationId xmlns:a16="http://schemas.microsoft.com/office/drawing/2014/main" id="{B3473E37-6504-470F-92FA-792C3ACA4FEC}"/>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12" name="Footer Placeholder 11">
            <a:extLst>
              <a:ext uri="{FF2B5EF4-FFF2-40B4-BE49-F238E27FC236}">
                <a16:creationId xmlns:a16="http://schemas.microsoft.com/office/drawing/2014/main" id="{7523DE74-18E2-4EF3-A1FC-8A32CCFE2666}"/>
              </a:ext>
            </a:extLst>
          </p:cNvPr>
          <p:cNvSpPr>
            <a:spLocks noGrp="1"/>
          </p:cNvSpPr>
          <p:nvPr>
            <p:ph type="ftr" sz="quarter" idx="11"/>
          </p:nvPr>
        </p:nvSpPr>
        <p:spPr/>
        <p:txBody>
          <a:bodyPr/>
          <a:lstStyle/>
          <a:p>
            <a:r>
              <a:rPr lang="en-US" noProof="0" dirty="0"/>
              <a:t>Add a footer</a:t>
            </a:r>
          </a:p>
        </p:txBody>
      </p:sp>
      <p:sp>
        <p:nvSpPr>
          <p:cNvPr id="13" name="Slide Number Placeholder 12">
            <a:extLst>
              <a:ext uri="{FF2B5EF4-FFF2-40B4-BE49-F238E27FC236}">
                <a16:creationId xmlns:a16="http://schemas.microsoft.com/office/drawing/2014/main" id="{51B4AF82-5505-4A7E-AA81-139F21451D9A}"/>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noProof="0" smtClean="0"/>
              <a:t>Click to edit Master title style</a:t>
            </a:r>
            <a:endParaRPr lang="en-US" noProof="0"/>
          </a:p>
        </p:txBody>
      </p:sp>
      <p:sp>
        <p:nvSpPr>
          <p:cNvPr id="7" name="Date Placeholder 6">
            <a:extLst>
              <a:ext uri="{FF2B5EF4-FFF2-40B4-BE49-F238E27FC236}">
                <a16:creationId xmlns:a16="http://schemas.microsoft.com/office/drawing/2014/main" id="{93AF03C3-E3F3-4845-8D9E-9BD2A676707E}"/>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8" name="Footer Placeholder 7">
            <a:extLst>
              <a:ext uri="{FF2B5EF4-FFF2-40B4-BE49-F238E27FC236}">
                <a16:creationId xmlns:a16="http://schemas.microsoft.com/office/drawing/2014/main" id="{DB9C7230-29FF-42F2-A662-1BC1D19C5003}"/>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99EBD02D-5A68-4A14-892F-DE4953F2E3DD}"/>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6D14D8-4D13-4DFE-938B-B710F891BBA2}"/>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6" name="Footer Placeholder 5">
            <a:extLst>
              <a:ext uri="{FF2B5EF4-FFF2-40B4-BE49-F238E27FC236}">
                <a16:creationId xmlns:a16="http://schemas.microsoft.com/office/drawing/2014/main" id="{6864B8A5-6021-4208-A587-B45576E66D48}"/>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53C96ABC-E632-4853-B7CC-A2FB4B7CF144}"/>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noProof="0" smtClean="0"/>
              <a:t>Click to edit Master title style</a:t>
            </a:r>
            <a:endParaRPr lang="en-US" noProof="0"/>
          </a:p>
        </p:txBody>
      </p:sp>
      <p:sp>
        <p:nvSpPr>
          <p:cNvPr id="3" name="Content Placeholder 2"/>
          <p:cNvSpPr>
            <a:spLocks noGrp="1"/>
          </p:cNvSpPr>
          <p:nvPr>
            <p:ph idx="1" hasCustomPrompt="1"/>
          </p:nvPr>
        </p:nvSpPr>
        <p:spPr>
          <a:xfrm>
            <a:off x="4855633" y="446088"/>
            <a:ext cx="6252633" cy="5414963"/>
          </a:xfrm>
        </p:spPr>
        <p:txBody>
          <a:bodyP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hasCustomPrompt="1"/>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8" name="Date Placeholder 7">
            <a:extLst>
              <a:ext uri="{FF2B5EF4-FFF2-40B4-BE49-F238E27FC236}">
                <a16:creationId xmlns:a16="http://schemas.microsoft.com/office/drawing/2014/main" id="{CBF97433-9C09-4B71-A1E0-24F75011D99C}"/>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9" name="Footer Placeholder 8">
            <a:extLst>
              <a:ext uri="{FF2B5EF4-FFF2-40B4-BE49-F238E27FC236}">
                <a16:creationId xmlns:a16="http://schemas.microsoft.com/office/drawing/2014/main" id="{46EDA271-FE91-46E6-ABB5-0A3AD2448B21}"/>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C44DCFF3-B944-4C24-A12C-689D1FF794E8}"/>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noProof="0" smtClean="0"/>
              <a:t>Click to edit Master title style</a:t>
            </a:r>
            <a:endParaRPr lang="en-US" noProof="0"/>
          </a:p>
        </p:txBody>
      </p:sp>
      <p:sp>
        <p:nvSpPr>
          <p:cNvPr id="3" name="Text Placeholder 2"/>
          <p:cNvSpPr>
            <a:spLocks noGrp="1"/>
          </p:cNvSpPr>
          <p:nvPr>
            <p:ph type="body" idx="1" hasCustomPrompt="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9" name="Text Placeholder 5"/>
          <p:cNvSpPr>
            <a:spLocks noGrp="1"/>
          </p:cNvSpPr>
          <p:nvPr>
            <p:ph type="body" sz="quarter" idx="16" hasCustomPrompt="1"/>
          </p:nvPr>
        </p:nvSpPr>
        <p:spPr>
          <a:xfrm>
            <a:off x="7574642" y="1081456"/>
            <a:ext cx="3810001" cy="4075465"/>
          </a:xfrm>
        </p:spPr>
        <p:txBody>
          <a:bodyPr anchor="t" anchorCtr="0">
            <a:normAutofit/>
          </a:bodyPr>
          <a:lstStyle>
            <a:lvl1pPr marL="0" indent="0" algn="l">
              <a:buFontTx/>
              <a:buNone/>
              <a:defRPr sz="2800"/>
            </a:lvl1pPr>
          </a:lstStyle>
          <a:p>
            <a:pPr lvl="0"/>
            <a:r>
              <a:rPr lang="en-US" noProof="0"/>
              <a:t>Edit Master text styles</a:t>
            </a:r>
          </a:p>
        </p:txBody>
      </p:sp>
      <p:sp>
        <p:nvSpPr>
          <p:cNvPr id="7" name="Date Placeholder 6">
            <a:extLst>
              <a:ext uri="{FF2B5EF4-FFF2-40B4-BE49-F238E27FC236}">
                <a16:creationId xmlns:a16="http://schemas.microsoft.com/office/drawing/2014/main" id="{7964F81E-11BA-4BB3-AC2C-0A729DC676E6}"/>
              </a:ext>
            </a:extLst>
          </p:cNvPr>
          <p:cNvSpPr>
            <a:spLocks noGrp="1"/>
          </p:cNvSpPr>
          <p:nvPr>
            <p:ph type="dt" sz="half" idx="17"/>
          </p:nvPr>
        </p:nvSpPr>
        <p:spPr/>
        <p:txBody>
          <a:bodyPr/>
          <a:lstStyle/>
          <a:p>
            <a:fld id="{FB7F6C47-B260-4BB6-8230-7D14D5CDE026}" type="datetimeFigureOut">
              <a:rPr lang="en-US" noProof="0" smtClean="0"/>
              <a:t>6/24/2025</a:t>
            </a:fld>
            <a:endParaRPr lang="en-US" noProof="0" dirty="0"/>
          </a:p>
        </p:txBody>
      </p:sp>
      <p:sp>
        <p:nvSpPr>
          <p:cNvPr id="10" name="Footer Placeholder 9">
            <a:extLst>
              <a:ext uri="{FF2B5EF4-FFF2-40B4-BE49-F238E27FC236}">
                <a16:creationId xmlns:a16="http://schemas.microsoft.com/office/drawing/2014/main" id="{F93A4488-E8DE-4FEB-88F9-B37F95CC838A}"/>
              </a:ext>
            </a:extLst>
          </p:cNvPr>
          <p:cNvSpPr>
            <a:spLocks noGrp="1"/>
          </p:cNvSpPr>
          <p:nvPr>
            <p:ph type="ftr" sz="quarter" idx="18"/>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DF909D08-1E53-42D5-954B-F61B5083645D}"/>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noProof="0" smtClean="0"/>
              <a:t>Click to edit Master title style</a:t>
            </a:r>
            <a:endParaRPr lang="en-US" noProof="0"/>
          </a:p>
        </p:txBody>
      </p:sp>
      <p:sp>
        <p:nvSpPr>
          <p:cNvPr id="6" name="Text Placeholder 5"/>
          <p:cNvSpPr>
            <a:spLocks noGrp="1"/>
          </p:cNvSpPr>
          <p:nvPr>
            <p:ph type="body" sz="quarter" idx="16" hasCustomPrompt="1"/>
          </p:nvPr>
        </p:nvSpPr>
        <p:spPr>
          <a:xfrm>
            <a:off x="6156000" y="2286000"/>
            <a:ext cx="4880300" cy="2295525"/>
          </a:xfrm>
        </p:spPr>
        <p:txBody>
          <a:bodyPr anchor="ctr" anchorCtr="0">
            <a:normAutofit/>
          </a:bodyPr>
          <a:lstStyle>
            <a:lvl1pPr marL="0" indent="0" algn="ctr">
              <a:buFontTx/>
              <a:buNone/>
              <a:defRPr sz="2800"/>
            </a:lvl1pPr>
          </a:lstStyle>
          <a:p>
            <a:pPr lvl="0"/>
            <a:r>
              <a:rPr lang="en-US" noProof="0"/>
              <a:t>Edit Master text styles</a:t>
            </a:r>
          </a:p>
        </p:txBody>
      </p:sp>
      <p:sp>
        <p:nvSpPr>
          <p:cNvPr id="5" name="Date Placeholder 4">
            <a:extLst>
              <a:ext uri="{FF2B5EF4-FFF2-40B4-BE49-F238E27FC236}">
                <a16:creationId xmlns:a16="http://schemas.microsoft.com/office/drawing/2014/main" id="{52142ECB-4FB1-4B01-80F3-04208C781B16}"/>
              </a:ext>
            </a:extLst>
          </p:cNvPr>
          <p:cNvSpPr>
            <a:spLocks noGrp="1"/>
          </p:cNvSpPr>
          <p:nvPr>
            <p:ph type="dt" sz="half" idx="17"/>
          </p:nvPr>
        </p:nvSpPr>
        <p:spPr/>
        <p:txBody>
          <a:bodyPr/>
          <a:lstStyle/>
          <a:p>
            <a:fld id="{FB7F6C47-B260-4BB6-8230-7D14D5CDE026}" type="datetimeFigureOut">
              <a:rPr lang="en-US" noProof="0" smtClean="0"/>
              <a:t>6/24/2025</a:t>
            </a:fld>
            <a:endParaRPr lang="en-US" noProof="0" dirty="0"/>
          </a:p>
        </p:txBody>
      </p:sp>
      <p:sp>
        <p:nvSpPr>
          <p:cNvPr id="7" name="Footer Placeholder 6">
            <a:extLst>
              <a:ext uri="{FF2B5EF4-FFF2-40B4-BE49-F238E27FC236}">
                <a16:creationId xmlns:a16="http://schemas.microsoft.com/office/drawing/2014/main" id="{776F215A-F354-440E-A263-A920F5950831}"/>
              </a:ext>
            </a:extLst>
          </p:cNvPr>
          <p:cNvSpPr>
            <a:spLocks noGrp="1"/>
          </p:cNvSpPr>
          <p:nvPr>
            <p:ph type="ftr" sz="quarter" idx="18"/>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E90FC50C-9C02-4BD6-9CBE-6880E1297783}"/>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noProof="0" smtClean="0"/>
              <a:t>Click to edit Master title style</a:t>
            </a:r>
            <a:endParaRPr lang="en-US" noProof="0"/>
          </a:p>
        </p:txBody>
      </p:sp>
      <p:sp>
        <p:nvSpPr>
          <p:cNvPr id="3" name="Vertical Text Placeholder 2"/>
          <p:cNvSpPr>
            <a:spLocks noGrp="1"/>
          </p:cNvSpPr>
          <p:nvPr>
            <p:ph type="body" orient="vert" idx="1" hasCustomPrompt="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9D7128B4-F868-4384-A8AA-473DA3516902}"/>
              </a:ext>
            </a:extLst>
          </p:cNvPr>
          <p:cNvSpPr>
            <a:spLocks noGrp="1"/>
          </p:cNvSpPr>
          <p:nvPr>
            <p:ph type="dt" sz="half" idx="10"/>
          </p:nvPr>
        </p:nvSpPr>
        <p:spPr/>
        <p:txBody>
          <a:bodyPr/>
          <a:lstStyle/>
          <a:p>
            <a:fld id="{FB7F6C47-B260-4BB6-8230-7D14D5CDE026}" type="datetimeFigureOut">
              <a:rPr lang="en-US" noProof="0" smtClean="0"/>
              <a:t>6/24/2025</a:t>
            </a:fld>
            <a:endParaRPr lang="en-US" noProof="0" dirty="0"/>
          </a:p>
        </p:txBody>
      </p:sp>
      <p:sp>
        <p:nvSpPr>
          <p:cNvPr id="8" name="Footer Placeholder 7">
            <a:extLst>
              <a:ext uri="{FF2B5EF4-FFF2-40B4-BE49-F238E27FC236}">
                <a16:creationId xmlns:a16="http://schemas.microsoft.com/office/drawing/2014/main" id="{84FF940D-9281-4C2A-BA62-E5854A11F99B}"/>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FB1454F-842C-4F51-A7E7-0335B2FB16F1}"/>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US" noProof="0" dirty="0"/>
              <a:t>Add a footer</a:t>
            </a:r>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noProof="0" smtClean="0"/>
              <a:t>6/24/2025</a:t>
            </a:fld>
            <a:endParaRPr lang="en-US" noProof="0"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hyperlink" Target="https://go.microsoft.com/fwlink/?linkid=2007348"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bwMode="grayWhite">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37BC-7D91-4F83-845D-70080D7DD6FC}"/>
              </a:ext>
            </a:extLst>
          </p:cNvPr>
          <p:cNvSpPr>
            <a:spLocks noGrp="1"/>
          </p:cNvSpPr>
          <p:nvPr>
            <p:ph type="ctrTitle"/>
          </p:nvPr>
        </p:nvSpPr>
        <p:spPr bwMode="black"/>
        <p:txBody>
          <a:bodyPr/>
          <a:lstStyle/>
          <a:p>
            <a:r>
              <a:rPr lang="en-US" b="1" dirty="0" smtClean="0"/>
              <a:t>THE INDUSTRIES AND THE EMPLOYEES SALARY INSIGHTS</a:t>
            </a:r>
            <a:endParaRPr lang="en-US" b="1" dirty="0"/>
          </a:p>
        </p:txBody>
      </p:sp>
      <p:sp>
        <p:nvSpPr>
          <p:cNvPr id="3" name="Subtitle 2">
            <a:extLst>
              <a:ext uri="{FF2B5EF4-FFF2-40B4-BE49-F238E27FC236}">
                <a16:creationId xmlns:a16="http://schemas.microsoft.com/office/drawing/2014/main" id="{59E5DACC-1D74-41AD-B036-C015472B948F}"/>
              </a:ext>
            </a:extLst>
          </p:cNvPr>
          <p:cNvSpPr>
            <a:spLocks noGrp="1"/>
          </p:cNvSpPr>
          <p:nvPr>
            <p:ph type="subTitle" idx="1"/>
          </p:nvPr>
        </p:nvSpPr>
        <p:spPr>
          <a:xfrm>
            <a:off x="810001" y="5280847"/>
            <a:ext cx="3718037" cy="1199084"/>
          </a:xfrm>
        </p:spPr>
        <p:txBody>
          <a:bodyPr>
            <a:normAutofit fontScale="92500" lnSpcReduction="20000"/>
          </a:bodyPr>
          <a:lstStyle/>
          <a:p>
            <a:pPr algn="l"/>
            <a:r>
              <a:rPr lang="en-US" b="1" dirty="0" smtClean="0"/>
              <a:t>Name: </a:t>
            </a:r>
            <a:r>
              <a:rPr lang="en-US" b="1" dirty="0" err="1" smtClean="0"/>
              <a:t>Cheran</a:t>
            </a:r>
            <a:r>
              <a:rPr lang="en-US" b="1" dirty="0" smtClean="0"/>
              <a:t> T</a:t>
            </a:r>
          </a:p>
          <a:p>
            <a:pPr algn="l"/>
            <a:r>
              <a:rPr lang="en-US" sz="2400" b="1" dirty="0" smtClean="0"/>
              <a:t>Batch: March – 2025</a:t>
            </a:r>
          </a:p>
          <a:p>
            <a:pPr algn="l"/>
            <a:r>
              <a:rPr lang="en-US" b="1" dirty="0" smtClean="0"/>
              <a:t>Course: DADS</a:t>
            </a:r>
            <a:endParaRPr lang="en-US" sz="2400" b="1" dirty="0"/>
          </a:p>
        </p:txBody>
      </p:sp>
    </p:spTree>
    <p:extLst>
      <p:ext uri="{BB962C8B-B14F-4D97-AF65-F5344CB8AC3E}">
        <p14:creationId xmlns:p14="http://schemas.microsoft.com/office/powerpoint/2010/main" val="1613975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B58F-1CF7-41B5-BF70-710D7AC7941C}"/>
              </a:ext>
            </a:extLst>
          </p:cNvPr>
          <p:cNvSpPr>
            <a:spLocks noGrp="1"/>
          </p:cNvSpPr>
          <p:nvPr>
            <p:ph type="title"/>
          </p:nvPr>
        </p:nvSpPr>
        <p:spPr/>
        <p:txBody>
          <a:bodyPr/>
          <a:lstStyle/>
          <a:p>
            <a:r>
              <a:rPr lang="en-US" b="1" dirty="0" smtClean="0"/>
              <a:t>The Objective</a:t>
            </a:r>
            <a:endParaRPr lang="en-US" b="1" dirty="0"/>
          </a:p>
        </p:txBody>
      </p:sp>
      <p:sp>
        <p:nvSpPr>
          <p:cNvPr id="3" name="Content Placeholder 2">
            <a:extLst>
              <a:ext uri="{FF2B5EF4-FFF2-40B4-BE49-F238E27FC236}">
                <a16:creationId xmlns:a16="http://schemas.microsoft.com/office/drawing/2014/main" id="{F3FF1311-DD92-45BA-B10F-C1A324C27B55}"/>
              </a:ext>
            </a:extLst>
          </p:cNvPr>
          <p:cNvSpPr>
            <a:spLocks noGrp="1"/>
          </p:cNvSpPr>
          <p:nvPr>
            <p:ph sz="half" idx="4294967295"/>
          </p:nvPr>
        </p:nvSpPr>
        <p:spPr>
          <a:xfrm>
            <a:off x="809625" y="2222500"/>
            <a:ext cx="9732352" cy="3638550"/>
          </a:xfrm>
        </p:spPr>
        <p:txBody>
          <a:bodyPr/>
          <a:lstStyle/>
          <a:p>
            <a:pPr marL="0" indent="0">
              <a:buNone/>
            </a:pPr>
            <a:r>
              <a:rPr lang="en-US" dirty="0" smtClean="0"/>
              <a:t>Objectives are :</a:t>
            </a:r>
          </a:p>
          <a:p>
            <a:pPr marL="0" indent="0">
              <a:buNone/>
            </a:pPr>
            <a:r>
              <a:rPr lang="en-US" dirty="0" smtClean="0"/>
              <a:t>The project focuses on uncovering trends and relationships between years of experience and salary levels by performing data cleaning , aggregation and visualization.</a:t>
            </a:r>
            <a:endParaRPr lang="en-US" dirty="0"/>
          </a:p>
          <a:p>
            <a:r>
              <a:rPr lang="en-US" dirty="0" smtClean="0"/>
              <a:t>Understand and visualize salary patterns</a:t>
            </a:r>
            <a:endParaRPr lang="en-US" dirty="0"/>
          </a:p>
          <a:p>
            <a:r>
              <a:rPr lang="en-US" dirty="0" smtClean="0"/>
              <a:t> Enabling user and audience for better understanding</a:t>
            </a:r>
            <a:endParaRPr lang="en-US" dirty="0"/>
          </a:p>
          <a:p>
            <a:r>
              <a:rPr lang="en-US" dirty="0" smtClean="0"/>
              <a:t>To ensure which trending job title for advancement</a:t>
            </a:r>
            <a:endParaRPr lang="en-US" dirty="0"/>
          </a:p>
          <a:p>
            <a:pPr marL="0" indent="0">
              <a:buNone/>
            </a:pPr>
            <a:endParaRPr lang="en-US" dirty="0"/>
          </a:p>
        </p:txBody>
      </p:sp>
    </p:spTree>
    <p:extLst>
      <p:ext uri="{BB962C8B-B14F-4D97-AF65-F5344CB8AC3E}">
        <p14:creationId xmlns:p14="http://schemas.microsoft.com/office/powerpoint/2010/main" val="2131043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97A3-CAEC-4FBF-94DF-5925729E0C97}"/>
              </a:ext>
            </a:extLst>
          </p:cNvPr>
          <p:cNvSpPr>
            <a:spLocks noGrp="1"/>
          </p:cNvSpPr>
          <p:nvPr>
            <p:ph type="title"/>
          </p:nvPr>
        </p:nvSpPr>
        <p:spPr bwMode="white"/>
        <p:txBody>
          <a:bodyPr/>
          <a:lstStyle/>
          <a:p>
            <a:r>
              <a:rPr lang="en-US" b="1" dirty="0" smtClean="0"/>
              <a:t>Data Cleaning and Pre-processing</a:t>
            </a:r>
            <a:endParaRPr lang="en-US" b="1" dirty="0"/>
          </a:p>
        </p:txBody>
      </p:sp>
      <p:sp>
        <p:nvSpPr>
          <p:cNvPr id="3" name="Content Placeholder 2">
            <a:extLst>
              <a:ext uri="{FF2B5EF4-FFF2-40B4-BE49-F238E27FC236}">
                <a16:creationId xmlns:a16="http://schemas.microsoft.com/office/drawing/2014/main" id="{77EF5FD3-E825-420F-8A22-D0B5F329468F}"/>
              </a:ext>
            </a:extLst>
          </p:cNvPr>
          <p:cNvSpPr>
            <a:spLocks noGrp="1"/>
          </p:cNvSpPr>
          <p:nvPr>
            <p:ph sz="half" idx="2"/>
          </p:nvPr>
        </p:nvSpPr>
        <p:spPr/>
        <p:txBody>
          <a:bodyPr/>
          <a:lstStyle/>
          <a:p>
            <a:r>
              <a:rPr lang="en-US" dirty="0" smtClean="0">
                <a:ea typeface="Tahoma" panose="020B0604030504040204" pitchFamily="34" charset="0"/>
                <a:cs typeface="Tahoma" panose="020B0604030504040204" pitchFamily="34" charset="0"/>
              </a:rPr>
              <a:t>Size</a:t>
            </a:r>
          </a:p>
          <a:p>
            <a:r>
              <a:rPr lang="en-US" dirty="0" smtClean="0">
                <a:ea typeface="Tahoma" panose="020B0604030504040204" pitchFamily="34" charset="0"/>
                <a:cs typeface="Tahoma" panose="020B0604030504040204" pitchFamily="34" charset="0"/>
              </a:rPr>
              <a:t>Key columns</a:t>
            </a:r>
          </a:p>
          <a:p>
            <a:r>
              <a:rPr lang="en-US" dirty="0" smtClean="0">
                <a:ea typeface="Tahoma" panose="020B0604030504040204" pitchFamily="34" charset="0"/>
                <a:cs typeface="Tahoma" panose="020B0604030504040204" pitchFamily="34" charset="0"/>
              </a:rPr>
              <a:t>Source</a:t>
            </a:r>
          </a:p>
          <a:p>
            <a:r>
              <a:rPr lang="en-US" dirty="0" smtClean="0">
                <a:ea typeface="Tahoma" panose="020B0604030504040204" pitchFamily="34" charset="0"/>
                <a:cs typeface="Tahoma" panose="020B0604030504040204" pitchFamily="34" charset="0"/>
              </a:rPr>
              <a:t>Handling missing values</a:t>
            </a:r>
          </a:p>
          <a:p>
            <a:r>
              <a:rPr lang="en-US" dirty="0" smtClean="0">
                <a:ea typeface="Tahoma" panose="020B0604030504040204" pitchFamily="34" charset="0"/>
                <a:cs typeface="Tahoma" panose="020B0604030504040204" pitchFamily="34" charset="0"/>
              </a:rPr>
              <a:t>Standardizing</a:t>
            </a:r>
          </a:p>
          <a:p>
            <a:r>
              <a:rPr lang="en-US" dirty="0" smtClean="0">
                <a:ea typeface="Tahoma" panose="020B0604030504040204" pitchFamily="34" charset="0"/>
                <a:cs typeface="Tahoma" panose="020B0604030504040204" pitchFamily="34" charset="0"/>
              </a:rPr>
              <a:t>Adding outliers</a:t>
            </a:r>
            <a:endParaRPr lang="en-US" dirty="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29462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97A3-CAEC-4FBF-94DF-5925729E0C97}"/>
              </a:ext>
            </a:extLst>
          </p:cNvPr>
          <p:cNvSpPr>
            <a:spLocks noGrp="1"/>
          </p:cNvSpPr>
          <p:nvPr>
            <p:ph type="title"/>
          </p:nvPr>
        </p:nvSpPr>
        <p:spPr bwMode="white"/>
        <p:txBody>
          <a:bodyPr/>
          <a:lstStyle/>
          <a:p>
            <a:r>
              <a:rPr lang="en-US" b="1" dirty="0" smtClean="0"/>
              <a:t>Conversion of raw data to cleaned data</a:t>
            </a:r>
            <a:endParaRPr lang="en-US" b="1" dirty="0"/>
          </a:p>
        </p:txBody>
      </p:sp>
      <p:pic>
        <p:nvPicPr>
          <p:cNvPr id="4" name="Content Placeholder 3"/>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396451" y="2373329"/>
            <a:ext cx="5139700" cy="3638550"/>
          </a:xfrm>
        </p:spPr>
      </p:pic>
      <p:sp>
        <p:nvSpPr>
          <p:cNvPr id="5" name="Right Arrow 4"/>
          <p:cNvSpPr/>
          <p:nvPr/>
        </p:nvSpPr>
        <p:spPr>
          <a:xfrm>
            <a:off x="5536151" y="3205113"/>
            <a:ext cx="1234911" cy="9874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1062" y="2373329"/>
            <a:ext cx="5307816" cy="3638550"/>
          </a:xfrm>
          <a:prstGeom prst="rect">
            <a:avLst/>
          </a:prstGeom>
        </p:spPr>
      </p:pic>
    </p:spTree>
    <p:extLst>
      <p:ext uri="{BB962C8B-B14F-4D97-AF65-F5344CB8AC3E}">
        <p14:creationId xmlns:p14="http://schemas.microsoft.com/office/powerpoint/2010/main" val="3087958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SQL Setup and Sample Queries</a:t>
            </a:r>
            <a:endParaRPr lang="en-IN"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231" y="2281238"/>
            <a:ext cx="11321592" cy="4294187"/>
          </a:xfrm>
        </p:spPr>
      </p:pic>
    </p:spTree>
    <p:extLst>
      <p:ext uri="{BB962C8B-B14F-4D97-AF65-F5344CB8AC3E}">
        <p14:creationId xmlns:p14="http://schemas.microsoft.com/office/powerpoint/2010/main" val="1024641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1.</a:t>
            </a:r>
            <a:r>
              <a:rPr lang="en-US" b="1" dirty="0"/>
              <a:t> Average Salary by Industry and Gender </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755" y="2413262"/>
            <a:ext cx="11057641" cy="4444738"/>
          </a:xfrm>
          <a:prstGeom prst="rect">
            <a:avLst/>
          </a:prstGeom>
        </p:spPr>
      </p:pic>
    </p:spTree>
    <p:extLst>
      <p:ext uri="{BB962C8B-B14F-4D97-AF65-F5344CB8AC3E}">
        <p14:creationId xmlns:p14="http://schemas.microsoft.com/office/powerpoint/2010/main" val="1351322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2.</a:t>
            </a:r>
            <a:r>
              <a:rPr lang="en-US" b="1" dirty="0"/>
              <a:t> Total Salary Compensation by Job Title</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000" y="2290713"/>
            <a:ext cx="10571998" cy="4501081"/>
          </a:xfrm>
          <a:prstGeom prst="rect">
            <a:avLst/>
          </a:prstGeom>
        </p:spPr>
      </p:pic>
    </p:spTree>
    <p:extLst>
      <p:ext uri="{BB962C8B-B14F-4D97-AF65-F5344CB8AC3E}">
        <p14:creationId xmlns:p14="http://schemas.microsoft.com/office/powerpoint/2010/main" val="2746517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3.</a:t>
            </a:r>
            <a:r>
              <a:rPr lang="en-US" b="1" dirty="0"/>
              <a:t> Salary Distribution by Education Level </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81" y="2290713"/>
            <a:ext cx="11917438" cy="4072396"/>
          </a:xfrm>
          <a:prstGeom prst="rect">
            <a:avLst/>
          </a:prstGeom>
        </p:spPr>
      </p:pic>
    </p:spTree>
    <p:extLst>
      <p:ext uri="{BB962C8B-B14F-4D97-AF65-F5344CB8AC3E}">
        <p14:creationId xmlns:p14="http://schemas.microsoft.com/office/powerpoint/2010/main" val="2983584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4.</a:t>
            </a:r>
            <a:r>
              <a:rPr lang="en-US" b="1" dirty="0"/>
              <a:t> Number of Employees by Industry and Years of Experience</a:t>
            </a:r>
            <a:endParaRPr lang="en-IN"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7521" y="2222500"/>
            <a:ext cx="9719035" cy="4206580"/>
          </a:xfrm>
        </p:spPr>
      </p:pic>
    </p:spTree>
    <p:extLst>
      <p:ext uri="{BB962C8B-B14F-4D97-AF65-F5344CB8AC3E}">
        <p14:creationId xmlns:p14="http://schemas.microsoft.com/office/powerpoint/2010/main" val="1103213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5.</a:t>
            </a:r>
            <a:r>
              <a:rPr lang="en-US" b="1" dirty="0"/>
              <a:t> Median Salary by Age Range and Gender </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000" y="2337846"/>
            <a:ext cx="10096812" cy="4364611"/>
          </a:xfrm>
          <a:prstGeom prst="rect">
            <a:avLst/>
          </a:prstGeom>
        </p:spPr>
      </p:pic>
    </p:spTree>
    <p:extLst>
      <p:ext uri="{BB962C8B-B14F-4D97-AF65-F5344CB8AC3E}">
        <p14:creationId xmlns:p14="http://schemas.microsoft.com/office/powerpoint/2010/main" val="1489880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6.</a:t>
            </a:r>
            <a:r>
              <a:rPr lang="en-US" b="1" dirty="0"/>
              <a:t> Job Titles with the Highest Salary in Each Country</a:t>
            </a:r>
            <a:endParaRPr lang="en-IN"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0000" y="2222500"/>
            <a:ext cx="10407897" cy="4395116"/>
          </a:xfrm>
        </p:spPr>
      </p:pic>
    </p:spTree>
    <p:extLst>
      <p:ext uri="{BB962C8B-B14F-4D97-AF65-F5344CB8AC3E}">
        <p14:creationId xmlns:p14="http://schemas.microsoft.com/office/powerpoint/2010/main" val="31590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7.</a:t>
            </a:r>
            <a:r>
              <a:rPr lang="en-US" b="1" dirty="0"/>
              <a:t> Average Salary by City and Industry </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206" y="2205872"/>
            <a:ext cx="11623250" cy="4652128"/>
          </a:xfrm>
          <a:prstGeom prst="rect">
            <a:avLst/>
          </a:prstGeom>
        </p:spPr>
      </p:pic>
    </p:spTree>
    <p:extLst>
      <p:ext uri="{BB962C8B-B14F-4D97-AF65-F5344CB8AC3E}">
        <p14:creationId xmlns:p14="http://schemas.microsoft.com/office/powerpoint/2010/main" val="1221939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8.</a:t>
            </a:r>
            <a:r>
              <a:rPr lang="en-US" b="1" dirty="0"/>
              <a:t> Percentage of Employees with Additional Monetary Compensation by Gender</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354" y="2215299"/>
            <a:ext cx="10939643" cy="4364612"/>
          </a:xfrm>
          <a:prstGeom prst="rect">
            <a:avLst/>
          </a:prstGeom>
        </p:spPr>
      </p:pic>
    </p:spTree>
    <p:extLst>
      <p:ext uri="{BB962C8B-B14F-4D97-AF65-F5344CB8AC3E}">
        <p14:creationId xmlns:p14="http://schemas.microsoft.com/office/powerpoint/2010/main" val="2865770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9.</a:t>
            </a:r>
            <a:r>
              <a:rPr lang="en-US" b="1" dirty="0"/>
              <a:t> Total Compensation by Job Title and Years of Experience</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156" y="2271860"/>
            <a:ext cx="10520313" cy="4458012"/>
          </a:xfrm>
          <a:prstGeom prst="rect">
            <a:avLst/>
          </a:prstGeom>
        </p:spPr>
      </p:pic>
    </p:spTree>
    <p:extLst>
      <p:ext uri="{BB962C8B-B14F-4D97-AF65-F5344CB8AC3E}">
        <p14:creationId xmlns:p14="http://schemas.microsoft.com/office/powerpoint/2010/main" val="4075922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10.</a:t>
            </a:r>
            <a:r>
              <a:rPr lang="en-US" b="1" dirty="0"/>
              <a:t> Average Salary by Industry, Gender, and Education Level</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120" y="2234153"/>
            <a:ext cx="10416618" cy="4405220"/>
          </a:xfrm>
          <a:prstGeom prst="rect">
            <a:avLst/>
          </a:prstGeom>
        </p:spPr>
      </p:pic>
    </p:spTree>
    <p:extLst>
      <p:ext uri="{BB962C8B-B14F-4D97-AF65-F5344CB8AC3E}">
        <p14:creationId xmlns:p14="http://schemas.microsoft.com/office/powerpoint/2010/main" val="760131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Pivot Table Highlights</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731" y="1932273"/>
            <a:ext cx="4440192" cy="290553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1793" y="5009892"/>
            <a:ext cx="7085492" cy="184810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8428" y="1932274"/>
            <a:ext cx="4877481" cy="2905530"/>
          </a:xfrm>
          <a:prstGeom prst="rect">
            <a:avLst/>
          </a:prstGeom>
        </p:spPr>
      </p:pic>
    </p:spTree>
    <p:extLst>
      <p:ext uri="{BB962C8B-B14F-4D97-AF65-F5344CB8AC3E}">
        <p14:creationId xmlns:p14="http://schemas.microsoft.com/office/powerpoint/2010/main" val="944453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Dashboard</a:t>
            </a:r>
            <a:endParaRPr lang="en-IN"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64398"/>
            <a:ext cx="12192000" cy="4932056"/>
          </a:xfrm>
          <a:prstGeom prst="rect">
            <a:avLst/>
          </a:prstGeom>
        </p:spPr>
      </p:pic>
    </p:spTree>
    <p:extLst>
      <p:ext uri="{BB962C8B-B14F-4D97-AF65-F5344CB8AC3E}">
        <p14:creationId xmlns:p14="http://schemas.microsoft.com/office/powerpoint/2010/main" val="1852110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Insights &amp; Trends</a:t>
            </a:r>
            <a:endParaRPr lang="en-IN" b="1" dirty="0"/>
          </a:p>
        </p:txBody>
      </p:sp>
      <p:sp>
        <p:nvSpPr>
          <p:cNvPr id="3" name="Content Placeholder 2"/>
          <p:cNvSpPr>
            <a:spLocks noGrp="1"/>
          </p:cNvSpPr>
          <p:nvPr>
            <p:ph idx="1"/>
          </p:nvPr>
        </p:nvSpPr>
        <p:spPr/>
        <p:txBody>
          <a:bodyPr/>
          <a:lstStyle/>
          <a:p>
            <a:pPr marL="0" indent="0">
              <a:buNone/>
            </a:pPr>
            <a:r>
              <a:rPr lang="en-IN" dirty="0" smtClean="0"/>
              <a:t>Insights:</a:t>
            </a:r>
          </a:p>
          <a:p>
            <a:r>
              <a:rPr lang="en-IN" dirty="0" smtClean="0"/>
              <a:t>Age </a:t>
            </a:r>
            <a:r>
              <a:rPr lang="en-IN" dirty="0"/>
              <a:t>and Gender-based Salary</a:t>
            </a:r>
            <a:endParaRPr lang="en-IN" dirty="0" smtClean="0"/>
          </a:p>
          <a:p>
            <a:r>
              <a:rPr lang="en-IN" dirty="0"/>
              <a:t>Education and </a:t>
            </a:r>
            <a:r>
              <a:rPr lang="en-IN" dirty="0" smtClean="0"/>
              <a:t>Salary</a:t>
            </a:r>
          </a:p>
          <a:p>
            <a:r>
              <a:rPr lang="en-IN" dirty="0"/>
              <a:t>Job Title and Experience </a:t>
            </a:r>
            <a:endParaRPr lang="en-IN" dirty="0" smtClean="0"/>
          </a:p>
          <a:p>
            <a:r>
              <a:rPr lang="en-IN" dirty="0"/>
              <a:t>Bonus Compensation by </a:t>
            </a:r>
            <a:r>
              <a:rPr lang="en-IN" dirty="0" smtClean="0"/>
              <a:t>Gender</a:t>
            </a:r>
            <a:endParaRPr lang="en-IN" dirty="0"/>
          </a:p>
          <a:p>
            <a:pPr marL="0" indent="0">
              <a:buNone/>
            </a:pPr>
            <a:r>
              <a:rPr lang="en-IN" dirty="0" smtClean="0"/>
              <a:t>Recommendations:</a:t>
            </a:r>
          </a:p>
          <a:p>
            <a:r>
              <a:rPr lang="en-IN" dirty="0"/>
              <a:t>Promote Equal Pay </a:t>
            </a:r>
            <a:r>
              <a:rPr lang="en-IN" dirty="0" smtClean="0"/>
              <a:t>Policies</a:t>
            </a:r>
          </a:p>
          <a:p>
            <a:r>
              <a:rPr lang="en-IN" dirty="0"/>
              <a:t>Skill-based Learning </a:t>
            </a:r>
            <a:r>
              <a:rPr lang="en-IN" dirty="0" smtClean="0"/>
              <a:t>Focus</a:t>
            </a:r>
          </a:p>
          <a:p>
            <a:r>
              <a:rPr lang="en-US"/>
              <a:t>Targeted Support for Underrepresented Groups</a:t>
            </a:r>
            <a:endParaRPr lang="en-IN" dirty="0"/>
          </a:p>
        </p:txBody>
      </p:sp>
    </p:spTree>
    <p:extLst>
      <p:ext uri="{BB962C8B-B14F-4D97-AF65-F5344CB8AC3E}">
        <p14:creationId xmlns:p14="http://schemas.microsoft.com/office/powerpoint/2010/main" val="1599094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Conclusion</a:t>
            </a:r>
            <a:endParaRPr lang="en-IN" b="1" dirty="0"/>
          </a:p>
        </p:txBody>
      </p:sp>
      <p:sp>
        <p:nvSpPr>
          <p:cNvPr id="4" name="Rectangle 1"/>
          <p:cNvSpPr>
            <a:spLocks noGrp="1" noChangeArrowheads="1"/>
          </p:cNvSpPr>
          <p:nvPr>
            <p:ph idx="1"/>
          </p:nvPr>
        </p:nvSpPr>
        <p:spPr bwMode="auto">
          <a:xfrm>
            <a:off x="590114" y="3067357"/>
            <a:ext cx="1130587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There is a </a:t>
            </a:r>
            <a:r>
              <a:rPr kumimoji="0" lang="en-US" altLang="en-US" sz="1800" b="1" i="0" u="none" strike="noStrike" cap="none" normalizeH="0" baseline="0" dirty="0" smtClean="0">
                <a:ln>
                  <a:noFill/>
                </a:ln>
                <a:solidFill>
                  <a:schemeClr val="tx1"/>
                </a:solidFill>
                <a:effectLst/>
                <a:latin typeface="Arial" panose="020B0604020202020204" pitchFamily="34" charset="0"/>
              </a:rPr>
              <a:t>clear gender-based salary disparity</a:t>
            </a:r>
            <a:r>
              <a:rPr kumimoji="0" lang="en-US" altLang="en-US" sz="1800" b="0" i="0" u="none" strike="noStrike" cap="none" normalizeH="0" baseline="0" dirty="0" smtClean="0">
                <a:ln>
                  <a:noFill/>
                </a:ln>
                <a:solidFill>
                  <a:schemeClr val="tx1"/>
                </a:solidFill>
                <a:effectLst/>
                <a:latin typeface="Arial" panose="020B0604020202020204" pitchFamily="34" charset="0"/>
              </a:rPr>
              <a:t> across most industries.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Finance and Tech</a:t>
            </a:r>
            <a:r>
              <a:rPr kumimoji="0" lang="en-US" altLang="en-US" sz="1800" b="0" i="0" u="none" strike="noStrike" cap="none" normalizeH="0" baseline="0" dirty="0" smtClean="0">
                <a:ln>
                  <a:noFill/>
                </a:ln>
                <a:solidFill>
                  <a:schemeClr val="tx1"/>
                </a:solidFill>
                <a:effectLst/>
                <a:latin typeface="Arial" panose="020B0604020202020204" pitchFamily="34" charset="0"/>
              </a:rPr>
              <a:t> dominate in total salary paid, but with internal inequalities.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Higher experience</a:t>
            </a:r>
            <a:r>
              <a:rPr kumimoji="0" lang="en-US" altLang="en-US" sz="1800" b="0" i="0" u="none" strike="noStrike" cap="none" normalizeH="0" baseline="0" dirty="0" smtClean="0">
                <a:ln>
                  <a:noFill/>
                </a:ln>
                <a:solidFill>
                  <a:schemeClr val="tx1"/>
                </a:solidFill>
                <a:effectLst/>
                <a:latin typeface="Arial" panose="020B0604020202020204" pitchFamily="34" charset="0"/>
              </a:rPr>
              <a:t> and </a:t>
            </a:r>
            <a:r>
              <a:rPr kumimoji="0" lang="en-US" altLang="en-US" sz="1800" b="1" i="0" u="none" strike="noStrike" cap="none" normalizeH="0" baseline="0" dirty="0" smtClean="0">
                <a:ln>
                  <a:noFill/>
                </a:ln>
                <a:solidFill>
                  <a:schemeClr val="tx1"/>
                </a:solidFill>
                <a:effectLst/>
                <a:latin typeface="Arial" panose="020B0604020202020204" pitchFamily="34" charset="0"/>
              </a:rPr>
              <a:t>advanced education</a:t>
            </a:r>
            <a:r>
              <a:rPr kumimoji="0" lang="en-US" altLang="en-US" sz="1800" b="0" i="0" u="none" strike="noStrike" cap="none" normalizeH="0" baseline="0" dirty="0" smtClean="0">
                <a:ln>
                  <a:noFill/>
                </a:ln>
                <a:solidFill>
                  <a:schemeClr val="tx1"/>
                </a:solidFill>
                <a:effectLst/>
                <a:latin typeface="Arial" panose="020B0604020202020204" pitchFamily="34" charset="0"/>
              </a:rPr>
              <a:t> positively impact salary.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dataset is </a:t>
            </a:r>
            <a:r>
              <a:rPr kumimoji="0" lang="en-US" altLang="en-US" sz="1800" b="1" i="0" u="none" strike="noStrike" cap="none" normalizeH="0" baseline="0" dirty="0" smtClean="0">
                <a:ln>
                  <a:noFill/>
                </a:ln>
                <a:solidFill>
                  <a:schemeClr val="tx1"/>
                </a:solidFill>
                <a:effectLst/>
                <a:latin typeface="Arial" panose="020B0604020202020204" pitchFamily="34" charset="0"/>
              </a:rPr>
              <a:t>positively skewed</a:t>
            </a:r>
            <a:r>
              <a:rPr kumimoji="0" lang="en-US" altLang="en-US" sz="1800" b="0" i="0" u="none" strike="noStrike" cap="none" normalizeH="0" baseline="0" dirty="0" smtClean="0">
                <a:ln>
                  <a:noFill/>
                </a:ln>
                <a:solidFill>
                  <a:schemeClr val="tx1"/>
                </a:solidFill>
                <a:effectLst/>
                <a:latin typeface="Arial" panose="020B0604020202020204" pitchFamily="34" charset="0"/>
              </a:rPr>
              <a:t>, so the median salary gives a better center than the mean.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Many roles offer </a:t>
            </a:r>
            <a:r>
              <a:rPr kumimoji="0" lang="en-US" altLang="en-US" sz="1800" b="1" i="0" u="none" strike="noStrike" cap="none" normalizeH="0" baseline="0" dirty="0" smtClean="0">
                <a:ln>
                  <a:noFill/>
                </a:ln>
                <a:solidFill>
                  <a:schemeClr val="tx1"/>
                </a:solidFill>
                <a:effectLst/>
                <a:latin typeface="Arial" panose="020B0604020202020204" pitchFamily="34" charset="0"/>
              </a:rPr>
              <a:t>minimal or no additional compensation</a:t>
            </a:r>
            <a:r>
              <a:rPr kumimoji="0" lang="en-US" altLang="en-US" sz="1800" b="0" i="0" u="none" strike="noStrike" cap="none" normalizeH="0" baseline="0" dirty="0" smtClean="0">
                <a:ln>
                  <a:noFill/>
                </a:ln>
                <a:solidFill>
                  <a:schemeClr val="tx1"/>
                </a:solidFill>
                <a:effectLst/>
                <a:latin typeface="Arial" panose="020B0604020202020204" pitchFamily="34" charset="0"/>
              </a:rPr>
              <a:t>, highlighting room for better incentives.</a:t>
            </a:r>
          </a:p>
        </p:txBody>
      </p:sp>
    </p:spTree>
    <p:extLst>
      <p:ext uri="{BB962C8B-B14F-4D97-AF65-F5344CB8AC3E}">
        <p14:creationId xmlns:p14="http://schemas.microsoft.com/office/powerpoint/2010/main" val="1810012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smtClean="0"/>
              <a:t>ANY QUESTIONS</a:t>
            </a:r>
            <a:endParaRPr lang="en-US" dirty="0"/>
          </a:p>
        </p:txBody>
      </p:sp>
      <p:sp>
        <p:nvSpPr>
          <p:cNvPr id="8" name="TextBox 7">
            <a:hlinkClick r:id="rId2"/>
            <a:extLst>
              <a:ext uri="{FF2B5EF4-FFF2-40B4-BE49-F238E27FC236}">
                <a16:creationId xmlns:a16="http://schemas.microsoft.com/office/drawing/2014/main" id="{5FC6C278-4035-446A-A94B-030E792FDDF5}"/>
              </a:ext>
            </a:extLst>
          </p:cNvPr>
          <p:cNvSpPr txBox="1"/>
          <p:nvPr/>
        </p:nvSpPr>
        <p:spPr>
          <a:xfrm>
            <a:off x="1547813" y="2459504"/>
            <a:ext cx="9096374" cy="1938992"/>
          </a:xfrm>
          <a:prstGeom prst="rect">
            <a:avLst/>
          </a:prstGeom>
          <a:noFill/>
        </p:spPr>
        <p:txBody>
          <a:bodyPr wrap="square" rtlCol="0">
            <a:noAutofit/>
          </a:bodyPr>
          <a:lstStyle/>
          <a:p>
            <a:pPr algn="ctr"/>
            <a:endParaRPr lang="en-US" sz="6000" u="sng" dirty="0">
              <a:solidFill>
                <a:srgbClr val="0070C0"/>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3616567" y="-1715360"/>
            <a:ext cx="4958862" cy="12187857"/>
          </a:xfrm>
          <a:prstGeom prst="rect">
            <a:avLst/>
          </a:prstGeom>
        </p:spPr>
      </p:pic>
    </p:spTree>
    <p:extLst>
      <p:ext uri="{BB962C8B-B14F-4D97-AF65-F5344CB8AC3E}">
        <p14:creationId xmlns:p14="http://schemas.microsoft.com/office/powerpoint/2010/main" val="2394598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00" y="958362"/>
            <a:ext cx="10561418" cy="3813527"/>
          </a:xfrm>
        </p:spPr>
        <p:txBody>
          <a:bodyPr/>
          <a:lstStyle/>
          <a:p>
            <a:r>
              <a:rPr lang="en-IN" b="1" dirty="0" smtClean="0"/>
              <a:t>Thank you </a:t>
            </a:r>
            <a:endParaRPr lang="en-IN" b="1" dirty="0"/>
          </a:p>
        </p:txBody>
      </p:sp>
    </p:spTree>
    <p:extLst>
      <p:ext uri="{BB962C8B-B14F-4D97-AF65-F5344CB8AC3E}">
        <p14:creationId xmlns:p14="http://schemas.microsoft.com/office/powerpoint/2010/main" val="4727005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F45182065_Persuasive speech outline_RVA_v3" id="{9991F312-7BAB-436D-8583-A5078171179B}" vid="{06C31F6F-9DBF-4ED0-83AC-3AFD01C902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99A0FB75-2DC0-41F8-9602-F83475C3A4C5}">
  <ds:schemaRefs>
    <ds:schemaRef ds:uri="http://schemas.microsoft.com/sharepoint/v3/contenttype/forms"/>
  </ds:schemaRefs>
</ds:datastoreItem>
</file>

<file path=customXml/itemProps2.xml><?xml version="1.0" encoding="utf-8"?>
<ds:datastoreItem xmlns:ds="http://schemas.openxmlformats.org/officeDocument/2006/customXml" ds:itemID="{72D07FD5-8A16-4741-957C-8B91E43CA4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E580CA-3EBF-40A1-848D-12B3B18BB82E}">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Persuasive speech outline </Template>
  <TotalTime>0</TotalTime>
  <Words>558</Words>
  <Application>Microsoft Office PowerPoint</Application>
  <PresentationFormat>Widescreen</PresentationFormat>
  <Paragraphs>63</Paragraphs>
  <Slides>21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Gothic</vt:lpstr>
      <vt:lpstr>Tahoma</vt:lpstr>
      <vt:lpstr>Wingdings 2</vt:lpstr>
      <vt:lpstr>Quotable</vt:lpstr>
      <vt:lpstr>THE INDUSTRIES AND THE EMPLOYEES SALARY INSIGHTS</vt:lpstr>
      <vt:lpstr>The Objective</vt:lpstr>
      <vt:lpstr>Data Cleaning and Pre-processing</vt:lpstr>
      <vt:lpstr>Conversion of raw data to cleaned data</vt:lpstr>
      <vt:lpstr>SQL Setup and Sample Queries</vt:lpstr>
      <vt:lpstr>1. Average Salary by Industry and Gender </vt:lpstr>
      <vt:lpstr>2. Total Salary Compensation by Job Title</vt:lpstr>
      <vt:lpstr>3. Salary Distribution by Education Level </vt:lpstr>
      <vt:lpstr>4. Number of Employees by Industry and Years of Experience</vt:lpstr>
      <vt:lpstr>5. Median Salary by Age Range and Gender </vt:lpstr>
      <vt:lpstr>6. Job Titles with the Highest Salary in Each Country</vt:lpstr>
      <vt:lpstr>7. Average Salary by City and Industry </vt:lpstr>
      <vt:lpstr>8. Percentage of Employees with Additional Monetary Compensation by Gender</vt:lpstr>
      <vt:lpstr>9. Total Compensation by Job Title and Years of Experience</vt:lpstr>
      <vt:lpstr>10. Average Salary by Industry, Gender, and Education Level</vt:lpstr>
      <vt:lpstr>Pivot Table Highlights</vt:lpstr>
      <vt:lpstr>Dashboard</vt:lpstr>
      <vt:lpstr>Insights &amp; Trends</vt:lpstr>
      <vt:lpstr>Conclusion</vt:lpstr>
      <vt:lpstr>ANY QUESTIONS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2025-06-22T17:39:43Z</dcterms:created>
  <dcterms:modified xsi:type="dcterms:W3CDTF">2025-06-24T06:58:20Z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